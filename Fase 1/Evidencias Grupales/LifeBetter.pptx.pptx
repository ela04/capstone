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Arimo Bold" panose="020B0604020202020204" charset="0"/>
      <p:regular r:id="rId14"/>
    </p:embeddedFont>
    <p:embeddedFont>
      <p:font typeface="Arimo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7" d="100"/>
          <a:sy n="57" d="100"/>
        </p:scale>
        <p:origin x="744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0134600" y="1910923"/>
            <a:ext cx="1428750" cy="1143000"/>
            <a:chOff x="0" y="0"/>
            <a:chExt cx="1905000" cy="152400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905000" cy="1524000"/>
            </a:xfrm>
            <a:custGeom>
              <a:avLst/>
              <a:gdLst/>
              <a:ahLst/>
              <a:cxnLst/>
              <a:rect l="l" t="t" r="r" b="b"/>
              <a:pathLst>
                <a:path w="1905000" h="1524000">
                  <a:moveTo>
                    <a:pt x="0" y="0"/>
                  </a:moveTo>
                  <a:lnTo>
                    <a:pt x="1905000" y="0"/>
                  </a:lnTo>
                  <a:lnTo>
                    <a:pt x="1905000" y="1524000"/>
                  </a:lnTo>
                  <a:lnTo>
                    <a:pt x="0" y="152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24" b="-123"/>
              </a:stretch>
            </a:blipFill>
          </p:spPr>
        </p:sp>
      </p:grpSp>
      <p:sp>
        <p:nvSpPr>
          <p:cNvPr id="6" name="TextBox 6"/>
          <p:cNvSpPr txBox="1"/>
          <p:nvPr/>
        </p:nvSpPr>
        <p:spPr>
          <a:xfrm>
            <a:off x="7839312" y="3438240"/>
            <a:ext cx="5267087" cy="11413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910"/>
              </a:lnSpc>
            </a:pPr>
            <a:r>
              <a:rPr lang="en-US" sz="8100" b="1" dirty="0" err="1">
                <a:solidFill>
                  <a:srgbClr val="212529"/>
                </a:solidFill>
                <a:latin typeface="Arimo Bold"/>
                <a:ea typeface="Arimo Bold"/>
                <a:cs typeface="Arimo Bold"/>
                <a:sym typeface="Arimo Bold"/>
              </a:rPr>
              <a:t>LifeBetter</a:t>
            </a:r>
            <a:endParaRPr lang="en-US" sz="8100" b="1" dirty="0">
              <a:solidFill>
                <a:srgbClr val="212529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257800" y="4604845"/>
            <a:ext cx="10901362" cy="71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80"/>
              </a:lnSpc>
            </a:pPr>
            <a:r>
              <a:rPr lang="en-US" sz="2925" dirty="0" err="1">
                <a:solidFill>
                  <a:srgbClr val="6C757D"/>
                </a:solidFill>
                <a:latin typeface="Arimo"/>
                <a:ea typeface="Arimo"/>
                <a:cs typeface="Arimo"/>
                <a:sym typeface="Arimo"/>
              </a:rPr>
              <a:t>Plataforma</a:t>
            </a:r>
            <a:r>
              <a:rPr lang="en-US" sz="2925" dirty="0">
                <a:solidFill>
                  <a:srgbClr val="6C757D"/>
                </a:solidFill>
                <a:latin typeface="Arimo"/>
                <a:ea typeface="Arimo"/>
                <a:cs typeface="Arimo"/>
                <a:sym typeface="Arimo"/>
              </a:rPr>
              <a:t> SaaS </a:t>
            </a:r>
            <a:r>
              <a:rPr lang="en-US" sz="2925" dirty="0" err="1">
                <a:solidFill>
                  <a:srgbClr val="6C757D"/>
                </a:solidFill>
                <a:latin typeface="Arimo"/>
                <a:ea typeface="Arimo"/>
                <a:cs typeface="Arimo"/>
                <a:sym typeface="Arimo"/>
              </a:rPr>
              <a:t>I+D+i</a:t>
            </a:r>
            <a:r>
              <a:rPr lang="en-US" sz="2925" dirty="0">
                <a:solidFill>
                  <a:srgbClr val="6C757D"/>
                </a:solidFill>
                <a:latin typeface="Arimo"/>
                <a:ea typeface="Arimo"/>
                <a:cs typeface="Arimo"/>
                <a:sym typeface="Arimo"/>
              </a:rPr>
              <a:t> para la </a:t>
            </a:r>
            <a:r>
              <a:rPr lang="en-US" sz="2925" dirty="0" err="1">
                <a:solidFill>
                  <a:srgbClr val="6C757D"/>
                </a:solidFill>
                <a:latin typeface="Arimo"/>
                <a:ea typeface="Arimo"/>
                <a:cs typeface="Arimo"/>
                <a:sym typeface="Arimo"/>
              </a:rPr>
              <a:t>Gestión</a:t>
            </a:r>
            <a:r>
              <a:rPr lang="en-US" sz="2925" dirty="0">
                <a:solidFill>
                  <a:srgbClr val="6C757D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925" dirty="0" err="1">
                <a:solidFill>
                  <a:srgbClr val="6C757D"/>
                </a:solidFill>
                <a:latin typeface="Arimo"/>
                <a:ea typeface="Arimo"/>
                <a:cs typeface="Arimo"/>
                <a:sym typeface="Arimo"/>
              </a:rPr>
              <a:t>Inteligente</a:t>
            </a:r>
            <a:r>
              <a:rPr lang="en-US" sz="2925" dirty="0">
                <a:solidFill>
                  <a:srgbClr val="6C757D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2925" dirty="0" err="1">
                <a:solidFill>
                  <a:srgbClr val="6C757D"/>
                </a:solidFill>
                <a:latin typeface="Arimo"/>
                <a:ea typeface="Arimo"/>
                <a:cs typeface="Arimo"/>
                <a:sym typeface="Arimo"/>
              </a:rPr>
              <a:t>Condominios</a:t>
            </a:r>
            <a:endParaRPr lang="en-US" sz="2925" dirty="0">
              <a:solidFill>
                <a:srgbClr val="6C757D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8" name="CuadroTexto 7"/>
          <p:cNvSpPr txBox="1"/>
          <p:nvPr/>
        </p:nvSpPr>
        <p:spPr>
          <a:xfrm>
            <a:off x="1600200" y="7505700"/>
            <a:ext cx="82296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dirty="0"/>
              <a:t>Integrantes: Gabriela </a:t>
            </a:r>
            <a:r>
              <a:rPr lang="es-ES" sz="3200" b="1" dirty="0" err="1"/>
              <a:t>Antunez</a:t>
            </a:r>
            <a:r>
              <a:rPr lang="es-ES" sz="3200" b="1" dirty="0"/>
              <a:t> y Ariel Oñate.</a:t>
            </a:r>
          </a:p>
          <a:p>
            <a:r>
              <a:rPr lang="es-ES" sz="3200" b="1" dirty="0"/>
              <a:t>Profesor: Luis Alberto Bravo Yanes</a:t>
            </a:r>
          </a:p>
          <a:p>
            <a:r>
              <a:rPr lang="es-ES" sz="3200" b="1" dirty="0"/>
              <a:t>Fecha: 12-09-2026</a:t>
            </a:r>
          </a:p>
          <a:p>
            <a:r>
              <a:rPr lang="es-ES" sz="3200" b="1" dirty="0"/>
              <a:t>Sigla: 002_V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9572625" y="3799361"/>
            <a:ext cx="7858125" cy="5715000"/>
            <a:chOff x="0" y="0"/>
            <a:chExt cx="10477500" cy="762000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0477500" cy="7620000"/>
            </a:xfrm>
            <a:custGeom>
              <a:avLst/>
              <a:gdLst/>
              <a:ahLst/>
              <a:cxnLst/>
              <a:rect l="l" t="t" r="r" b="b"/>
              <a:pathLst>
                <a:path w="10477500" h="7620000">
                  <a:moveTo>
                    <a:pt x="0" y="0"/>
                  </a:moveTo>
                  <a:lnTo>
                    <a:pt x="10477500" y="0"/>
                  </a:lnTo>
                  <a:lnTo>
                    <a:pt x="10477500" y="7620000"/>
                  </a:lnTo>
                  <a:lnTo>
                    <a:pt x="0" y="762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25" b="-125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9586912" y="3813648"/>
            <a:ext cx="7829550" cy="5686425"/>
            <a:chOff x="0" y="0"/>
            <a:chExt cx="10439400" cy="7581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439400" cy="7581900"/>
            </a:xfrm>
            <a:custGeom>
              <a:avLst/>
              <a:gdLst/>
              <a:ahLst/>
              <a:cxnLst/>
              <a:rect l="l" t="t" r="r" b="b"/>
              <a:pathLst>
                <a:path w="10439400" h="7581900">
                  <a:moveTo>
                    <a:pt x="0" y="0"/>
                  </a:moveTo>
                  <a:lnTo>
                    <a:pt x="10439400" y="0"/>
                  </a:lnTo>
                  <a:lnTo>
                    <a:pt x="10439400" y="7581900"/>
                  </a:lnTo>
                  <a:lnTo>
                    <a:pt x="0" y="7581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-1"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1500188" y="2824163"/>
            <a:ext cx="7215188" cy="22329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 b="1">
                <a:solidFill>
                  <a:srgbClr val="212529"/>
                </a:solidFill>
                <a:latin typeface="Arimo Bold"/>
                <a:ea typeface="Arimo Bold"/>
                <a:cs typeface="Arimo Bold"/>
                <a:sym typeface="Arimo Bold"/>
              </a:rPr>
              <a:t>Gestión Manual y Fragmentada</a:t>
            </a:r>
            <a:r>
              <a:rPr lang="en-US" sz="2475">
                <a:solidFill>
                  <a:srgbClr val="495057"/>
                </a:solidFill>
                <a:latin typeface="Arimo"/>
                <a:ea typeface="Arimo"/>
                <a:cs typeface="Arimo"/>
                <a:sym typeface="Arimo"/>
              </a:rPr>
              <a:t> Uso excesivo de planillas Excel propensas a errores de cálculo (#VALUE!) en el prorrateo de gastos comunes.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00188" y="5309521"/>
            <a:ext cx="7215188" cy="22329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 b="1">
                <a:solidFill>
                  <a:srgbClr val="212529"/>
                </a:solidFill>
                <a:latin typeface="Arimo Bold"/>
                <a:ea typeface="Arimo Bold"/>
                <a:cs typeface="Arimo Bold"/>
                <a:sym typeface="Arimo Bold"/>
              </a:rPr>
              <a:t>Cobranza Ineficiente</a:t>
            </a:r>
            <a:r>
              <a:rPr lang="en-US" sz="2475">
                <a:solidFill>
                  <a:srgbClr val="495057"/>
                </a:solidFill>
                <a:latin typeface="Arimo"/>
                <a:ea typeface="Arimo"/>
                <a:cs typeface="Arimo"/>
                <a:sym typeface="Arimo"/>
              </a:rPr>
              <a:t> Conciliación bancaria manual, envíos de comprobantes por WhatsApp y alta morosidad por fricción en el pago.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57312" y="7628191"/>
            <a:ext cx="7215188" cy="22329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 b="1">
                <a:solidFill>
                  <a:srgbClr val="212529"/>
                </a:solidFill>
                <a:latin typeface="Arimo Bold"/>
                <a:ea typeface="Arimo Bold"/>
                <a:cs typeface="Arimo Bold"/>
                <a:sym typeface="Arimo Bold"/>
              </a:rPr>
              <a:t>Conflictos Comunitarios</a:t>
            </a:r>
            <a:r>
              <a:rPr lang="en-US" sz="2475">
                <a:solidFill>
                  <a:srgbClr val="495057"/>
                </a:solidFill>
                <a:latin typeface="Arimo"/>
                <a:ea typeface="Arimo"/>
                <a:cs typeface="Arimo"/>
                <a:sym typeface="Arimo"/>
              </a:rPr>
              <a:t> Reservas de espacios comunes en cuadernos que generan traslapes, y canales de comunicación informales.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857250" y="2978944"/>
            <a:ext cx="300038" cy="414338"/>
            <a:chOff x="0" y="0"/>
            <a:chExt cx="400050" cy="552450"/>
          </a:xfrm>
        </p:grpSpPr>
        <p:sp>
          <p:nvSpPr>
            <p:cNvPr id="12" name="Freeform 12" descr="image.png"/>
            <p:cNvSpPr/>
            <p:nvPr/>
          </p:nvSpPr>
          <p:spPr>
            <a:xfrm>
              <a:off x="0" y="0"/>
              <a:ext cx="400050" cy="552450"/>
            </a:xfrm>
            <a:custGeom>
              <a:avLst/>
              <a:gdLst/>
              <a:ahLst/>
              <a:cxnLst/>
              <a:rect l="l" t="t" r="r" b="b"/>
              <a:pathLst>
                <a:path w="400050" h="552450">
                  <a:moveTo>
                    <a:pt x="0" y="0"/>
                  </a:moveTo>
                  <a:lnTo>
                    <a:pt x="400050" y="0"/>
                  </a:lnTo>
                  <a:lnTo>
                    <a:pt x="400050" y="552450"/>
                  </a:lnTo>
                  <a:lnTo>
                    <a:pt x="0" y="5524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857250" y="5464302"/>
            <a:ext cx="500062" cy="414338"/>
            <a:chOff x="0" y="0"/>
            <a:chExt cx="666750" cy="552450"/>
          </a:xfrm>
        </p:grpSpPr>
        <p:sp>
          <p:nvSpPr>
            <p:cNvPr id="14" name="Freeform 14" descr="image.png"/>
            <p:cNvSpPr/>
            <p:nvPr/>
          </p:nvSpPr>
          <p:spPr>
            <a:xfrm>
              <a:off x="0" y="0"/>
              <a:ext cx="666750" cy="552450"/>
            </a:xfrm>
            <a:custGeom>
              <a:avLst/>
              <a:gdLst/>
              <a:ahLst/>
              <a:cxnLst/>
              <a:rect l="l" t="t" r="r" b="b"/>
              <a:pathLst>
                <a:path w="666750" h="552450">
                  <a:moveTo>
                    <a:pt x="0" y="0"/>
                  </a:moveTo>
                  <a:lnTo>
                    <a:pt x="666750" y="0"/>
                  </a:lnTo>
                  <a:lnTo>
                    <a:pt x="666750" y="552450"/>
                  </a:lnTo>
                  <a:lnTo>
                    <a:pt x="0" y="5524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857250" y="7949651"/>
            <a:ext cx="357188" cy="414338"/>
            <a:chOff x="0" y="0"/>
            <a:chExt cx="476250" cy="552450"/>
          </a:xfrm>
        </p:grpSpPr>
        <p:sp>
          <p:nvSpPr>
            <p:cNvPr id="16" name="Freeform 16" descr="image.png"/>
            <p:cNvSpPr/>
            <p:nvPr/>
          </p:nvSpPr>
          <p:spPr>
            <a:xfrm>
              <a:off x="0" y="0"/>
              <a:ext cx="476250" cy="552450"/>
            </a:xfrm>
            <a:custGeom>
              <a:avLst/>
              <a:gdLst/>
              <a:ahLst/>
              <a:cxnLst/>
              <a:rect l="l" t="t" r="r" b="b"/>
              <a:pathLst>
                <a:path w="476250" h="552450">
                  <a:moveTo>
                    <a:pt x="0" y="0"/>
                  </a:moveTo>
                  <a:lnTo>
                    <a:pt x="476250" y="0"/>
                  </a:lnTo>
                  <a:lnTo>
                    <a:pt x="476250" y="552450"/>
                  </a:lnTo>
                  <a:lnTo>
                    <a:pt x="0" y="5524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857250" y="685800"/>
            <a:ext cx="17402175" cy="885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3A8A3A"/>
                </a:solidFill>
                <a:latin typeface="Arimo Bold"/>
                <a:ea typeface="Arimo Bold"/>
                <a:cs typeface="Arimo Bold"/>
                <a:sym typeface="Arimo Bold"/>
              </a:rPr>
              <a:t>El Problema de la Gestión Actual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857250" y="1757362"/>
            <a:ext cx="16573500" cy="28575"/>
            <a:chOff x="0" y="0"/>
            <a:chExt cx="22098000" cy="381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098000" cy="38100"/>
            </a:xfrm>
            <a:custGeom>
              <a:avLst/>
              <a:gdLst/>
              <a:ahLst/>
              <a:cxnLst/>
              <a:rect l="l" t="t" r="r" b="b"/>
              <a:pathLst>
                <a:path w="22098000" h="38100">
                  <a:moveTo>
                    <a:pt x="0" y="0"/>
                  </a:moveTo>
                  <a:lnTo>
                    <a:pt x="22098000" y="0"/>
                  </a:lnTo>
                  <a:lnTo>
                    <a:pt x="22098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9ECEF"/>
            </a:solidFill>
          </p:spPr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198049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857250" y="685800"/>
            <a:ext cx="2895600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3A8A3A"/>
                </a:solidFill>
                <a:latin typeface="Arimo Bold"/>
                <a:ea typeface="Arimo Bold"/>
                <a:cs typeface="Arimo Bold"/>
                <a:sym typeface="Arimo Bold"/>
              </a:rPr>
              <a:t>Solución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857250" y="1757362"/>
            <a:ext cx="16573500" cy="28575"/>
            <a:chOff x="0" y="0"/>
            <a:chExt cx="22098000" cy="381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2098000" cy="38100"/>
            </a:xfrm>
            <a:custGeom>
              <a:avLst/>
              <a:gdLst/>
              <a:ahLst/>
              <a:cxnLst/>
              <a:rect l="l" t="t" r="r" b="b"/>
              <a:pathLst>
                <a:path w="22098000" h="38100">
                  <a:moveTo>
                    <a:pt x="0" y="0"/>
                  </a:moveTo>
                  <a:lnTo>
                    <a:pt x="22098000" y="0"/>
                  </a:lnTo>
                  <a:lnTo>
                    <a:pt x="22098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9ECEF"/>
            </a:solidFill>
          </p:spPr>
        </p:sp>
      </p:grpSp>
      <p:sp>
        <p:nvSpPr>
          <p:cNvPr id="7" name="TextBox 7"/>
          <p:cNvSpPr txBox="1"/>
          <p:nvPr/>
        </p:nvSpPr>
        <p:spPr>
          <a:xfrm>
            <a:off x="1718042" y="6840855"/>
            <a:ext cx="10027488" cy="2950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 b="1">
                <a:solidFill>
                  <a:srgbClr val="212529"/>
                </a:solidFill>
                <a:latin typeface="Arimo Bold"/>
                <a:ea typeface="Arimo Bold"/>
                <a:cs typeface="Arimo Bold"/>
                <a:sym typeface="Arimo Bold"/>
              </a:rPr>
              <a:t>Gestión Manual y Fragmentada</a:t>
            </a:r>
            <a:r>
              <a:rPr lang="en-US" sz="2475">
                <a:solidFill>
                  <a:srgbClr val="495057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</a:p>
          <a:p>
            <a:pPr algn="l">
              <a:lnSpc>
                <a:spcPts val="3960"/>
              </a:lnSpc>
            </a:pPr>
            <a:r>
              <a:rPr lang="en-US" sz="2475" b="1">
                <a:solidFill>
                  <a:srgbClr val="495057"/>
                </a:solidFill>
                <a:latin typeface="Arimo Bold"/>
                <a:ea typeface="Arimo Bold"/>
                <a:cs typeface="Arimo Bold"/>
                <a:sym typeface="Arimo Bold"/>
              </a:rPr>
              <a:t>Implementamos un asistente virtual inteligente capaz de responder dudas legales 24/7. Lee la Ley 21.442 y el reglamento del condominio para entregar respuestas fundamentadas a los residentes</a:t>
            </a:r>
          </a:p>
          <a:p>
            <a:pPr algn="l">
              <a:lnSpc>
                <a:spcPts val="3960"/>
              </a:lnSpc>
            </a:pPr>
            <a:endParaRPr lang="en-US" sz="2475" b="1">
              <a:solidFill>
                <a:srgbClr val="495057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718042" y="2269525"/>
            <a:ext cx="7215188" cy="1960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 b="1">
                <a:solidFill>
                  <a:srgbClr val="212529"/>
                </a:solidFill>
                <a:latin typeface="Arimo Bold"/>
                <a:ea typeface="Arimo Bold"/>
                <a:cs typeface="Arimo Bold"/>
                <a:sym typeface="Arimo Bold"/>
              </a:rPr>
              <a:t>Administración y Finanzas Automatizadas</a:t>
            </a:r>
          </a:p>
          <a:p>
            <a:pPr algn="l">
              <a:lnSpc>
                <a:spcPts val="3960"/>
              </a:lnSpc>
            </a:pPr>
            <a:r>
              <a:rPr lang="en-US" sz="2475" b="1">
                <a:solidFill>
                  <a:srgbClr val="495057"/>
                </a:solidFill>
                <a:latin typeface="Arimo Bold"/>
                <a:ea typeface="Arimo Bold"/>
                <a:cs typeface="Arimo Bold"/>
                <a:sym typeface="Arimo Bold"/>
              </a:rPr>
              <a:t>Integramos pagos en línea seguros (Webpay Plus) y generamos colillas de cobro digitales al instante, reduciendo la morosidad.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18042" y="4555190"/>
            <a:ext cx="14146914" cy="1960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 b="1">
                <a:solidFill>
                  <a:srgbClr val="212529"/>
                </a:solidFill>
                <a:latin typeface="Arimo Bold"/>
                <a:ea typeface="Arimo Bold"/>
                <a:cs typeface="Arimo Bold"/>
                <a:sym typeface="Arimo Bold"/>
              </a:rPr>
              <a:t>Seguridad Inteligente</a:t>
            </a:r>
            <a:r>
              <a:rPr lang="en-US" sz="2475">
                <a:solidFill>
                  <a:srgbClr val="495057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</a:p>
          <a:p>
            <a:pPr algn="l">
              <a:lnSpc>
                <a:spcPts val="3960"/>
              </a:lnSpc>
            </a:pPr>
            <a:r>
              <a:rPr lang="en-US" sz="2475" b="1">
                <a:solidFill>
                  <a:srgbClr val="495057"/>
                </a:solidFill>
                <a:latin typeface="Arimo Bold"/>
                <a:ea typeface="Arimo Bold"/>
                <a:cs typeface="Arimo Bold"/>
                <a:sym typeface="Arimo Bold"/>
              </a:rPr>
              <a:t>Accesos Peatonales: Generación de pases QR dinámicos y temporales para visitas, validados directamente por conserjería.</a:t>
            </a:r>
          </a:p>
          <a:p>
            <a:pPr algn="l">
              <a:lnSpc>
                <a:spcPts val="3960"/>
              </a:lnSpc>
            </a:pPr>
            <a:r>
              <a:rPr lang="en-US" sz="2475" b="1">
                <a:solidFill>
                  <a:srgbClr val="495057"/>
                </a:solidFill>
                <a:latin typeface="Arimo Bold"/>
                <a:ea typeface="Arimo Bold"/>
                <a:cs typeface="Arimo Bold"/>
                <a:sym typeface="Arimo Bold"/>
              </a:rPr>
              <a:t> IA que notifique mediante alertas de patentes de vehículos asociados a departamento.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9572625" y="3393053"/>
            <a:ext cx="7858125" cy="5715000"/>
            <a:chOff x="0" y="0"/>
            <a:chExt cx="10477500" cy="7620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477500" cy="7620000"/>
            </a:xfrm>
            <a:custGeom>
              <a:avLst/>
              <a:gdLst/>
              <a:ahLst/>
              <a:cxnLst/>
              <a:rect l="l" t="t" r="r" b="b"/>
              <a:pathLst>
                <a:path w="10477500" h="7620000">
                  <a:moveTo>
                    <a:pt x="0" y="0"/>
                  </a:moveTo>
                  <a:lnTo>
                    <a:pt x="10477500" y="0"/>
                  </a:lnTo>
                  <a:lnTo>
                    <a:pt x="10477500" y="7620000"/>
                  </a:lnTo>
                  <a:lnTo>
                    <a:pt x="0" y="762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181" r="-8181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857250" y="3326759"/>
            <a:ext cx="457200" cy="414338"/>
            <a:chOff x="0" y="0"/>
            <a:chExt cx="609600" cy="552450"/>
          </a:xfrm>
        </p:grpSpPr>
        <p:sp>
          <p:nvSpPr>
            <p:cNvPr id="7" name="Freeform 7" descr="image.png"/>
            <p:cNvSpPr/>
            <p:nvPr/>
          </p:nvSpPr>
          <p:spPr>
            <a:xfrm>
              <a:off x="0" y="0"/>
              <a:ext cx="609600" cy="552450"/>
            </a:xfrm>
            <a:custGeom>
              <a:avLst/>
              <a:gdLst/>
              <a:ahLst/>
              <a:cxnLst/>
              <a:rect l="l" t="t" r="r" b="b"/>
              <a:pathLst>
                <a:path w="609600" h="552450">
                  <a:moveTo>
                    <a:pt x="0" y="0"/>
                  </a:moveTo>
                  <a:lnTo>
                    <a:pt x="609600" y="0"/>
                  </a:lnTo>
                  <a:lnTo>
                    <a:pt x="609600" y="552450"/>
                  </a:lnTo>
                  <a:lnTo>
                    <a:pt x="0" y="5524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857250" y="5309368"/>
            <a:ext cx="400050" cy="414338"/>
            <a:chOff x="0" y="0"/>
            <a:chExt cx="533400" cy="552450"/>
          </a:xfrm>
        </p:grpSpPr>
        <p:sp>
          <p:nvSpPr>
            <p:cNvPr id="9" name="Freeform 9" descr="image.png"/>
            <p:cNvSpPr/>
            <p:nvPr/>
          </p:nvSpPr>
          <p:spPr>
            <a:xfrm>
              <a:off x="0" y="0"/>
              <a:ext cx="533400" cy="552450"/>
            </a:xfrm>
            <a:custGeom>
              <a:avLst/>
              <a:gdLst/>
              <a:ahLst/>
              <a:cxnLst/>
              <a:rect l="l" t="t" r="r" b="b"/>
              <a:pathLst>
                <a:path w="533400" h="552450">
                  <a:moveTo>
                    <a:pt x="0" y="0"/>
                  </a:moveTo>
                  <a:lnTo>
                    <a:pt x="533400" y="0"/>
                  </a:lnTo>
                  <a:lnTo>
                    <a:pt x="533400" y="552450"/>
                  </a:lnTo>
                  <a:lnTo>
                    <a:pt x="0" y="5524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857250" y="7291978"/>
            <a:ext cx="400050" cy="414338"/>
            <a:chOff x="0" y="0"/>
            <a:chExt cx="533400" cy="552450"/>
          </a:xfrm>
        </p:grpSpPr>
        <p:sp>
          <p:nvSpPr>
            <p:cNvPr id="11" name="Freeform 11" descr="image.png"/>
            <p:cNvSpPr/>
            <p:nvPr/>
          </p:nvSpPr>
          <p:spPr>
            <a:xfrm>
              <a:off x="0" y="0"/>
              <a:ext cx="533400" cy="552450"/>
            </a:xfrm>
            <a:custGeom>
              <a:avLst/>
              <a:gdLst/>
              <a:ahLst/>
              <a:cxnLst/>
              <a:rect l="l" t="t" r="r" b="b"/>
              <a:pathLst>
                <a:path w="533400" h="552450">
                  <a:moveTo>
                    <a:pt x="0" y="0"/>
                  </a:moveTo>
                  <a:lnTo>
                    <a:pt x="533400" y="0"/>
                  </a:lnTo>
                  <a:lnTo>
                    <a:pt x="533400" y="552450"/>
                  </a:lnTo>
                  <a:lnTo>
                    <a:pt x="0" y="5524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857250" y="1757362"/>
            <a:ext cx="16573500" cy="28575"/>
            <a:chOff x="0" y="0"/>
            <a:chExt cx="22098000" cy="381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2098000" cy="38100"/>
            </a:xfrm>
            <a:custGeom>
              <a:avLst/>
              <a:gdLst/>
              <a:ahLst/>
              <a:cxnLst/>
              <a:rect l="l" t="t" r="r" b="b"/>
              <a:pathLst>
                <a:path w="22098000" h="38100">
                  <a:moveTo>
                    <a:pt x="0" y="0"/>
                  </a:moveTo>
                  <a:lnTo>
                    <a:pt x="22098000" y="0"/>
                  </a:lnTo>
                  <a:lnTo>
                    <a:pt x="22098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9ECEF"/>
            </a:solidFill>
          </p:spPr>
        </p:sp>
      </p:grpSp>
      <p:sp>
        <p:nvSpPr>
          <p:cNvPr id="14" name="TextBox 14"/>
          <p:cNvSpPr txBox="1"/>
          <p:nvPr/>
        </p:nvSpPr>
        <p:spPr>
          <a:xfrm>
            <a:off x="1500188" y="3171977"/>
            <a:ext cx="7215188" cy="17301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 b="1">
                <a:solidFill>
                  <a:srgbClr val="212529"/>
                </a:solidFill>
                <a:latin typeface="Arimo Bold"/>
                <a:ea typeface="Arimo Bold"/>
                <a:cs typeface="Arimo Bold"/>
                <a:sym typeface="Arimo Bold"/>
              </a:rPr>
              <a:t>Residente (Autoservicio)</a:t>
            </a:r>
            <a:r>
              <a:rPr lang="en-US" sz="2475">
                <a:solidFill>
                  <a:srgbClr val="495057"/>
                </a:solidFill>
                <a:latin typeface="Arimo"/>
                <a:ea typeface="Arimo"/>
                <a:cs typeface="Arimo"/>
                <a:sym typeface="Arimo"/>
              </a:rPr>
              <a:t> Pago rápido de cuentas, visualización de boletas, reservas de espacios sin fricción y foro comunitario.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00188" y="5154587"/>
            <a:ext cx="7215188" cy="17301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 b="1">
                <a:solidFill>
                  <a:srgbClr val="212529"/>
                </a:solidFill>
                <a:latin typeface="Arimo Bold"/>
                <a:ea typeface="Arimo Bold"/>
                <a:cs typeface="Arimo Bold"/>
                <a:sym typeface="Arimo Bold"/>
              </a:rPr>
              <a:t>Conserje (Operación Real-Time)</a:t>
            </a:r>
            <a:r>
              <a:rPr lang="en-US" sz="2475">
                <a:solidFill>
                  <a:srgbClr val="495057"/>
                </a:solidFill>
                <a:latin typeface="Arimo"/>
                <a:ea typeface="Arimo"/>
                <a:cs typeface="Arimo"/>
                <a:sym typeface="Arimo"/>
              </a:rPr>
              <a:t> Registro ágil de visitas, control de patentes, gestión de encomiendas y bitácora de novedades del turno.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00188" y="7137197"/>
            <a:ext cx="7215188" cy="17301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 b="1">
                <a:solidFill>
                  <a:srgbClr val="212529"/>
                </a:solidFill>
                <a:latin typeface="Arimo Bold"/>
                <a:ea typeface="Arimo Bold"/>
                <a:cs typeface="Arimo Bold"/>
                <a:sym typeface="Arimo Bold"/>
              </a:rPr>
              <a:t>Administrador (Finanzas)</a:t>
            </a:r>
            <a:r>
              <a:rPr lang="en-US" sz="2475">
                <a:solidFill>
                  <a:srgbClr val="495057"/>
                </a:solidFill>
                <a:latin typeface="Arimo"/>
                <a:ea typeface="Arimo"/>
                <a:cs typeface="Arimo"/>
                <a:sym typeface="Arimo"/>
              </a:rPr>
              <a:t> KPIs de morosidad vs recaudación, emisión masiva de gastos comunes y gestión de múltiples edificios.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57250" y="685800"/>
            <a:ext cx="4229100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3A8A3A"/>
                </a:solidFill>
                <a:latin typeface="Arimo Bold"/>
                <a:ea typeface="Arimo Bold"/>
                <a:cs typeface="Arimo Bold"/>
                <a:sym typeface="Arimo Bold"/>
              </a:rPr>
              <a:t>Mockup Web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0" y="2072399"/>
            <a:ext cx="6022441" cy="3762049"/>
            <a:chOff x="0" y="0"/>
            <a:chExt cx="11240266" cy="702147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240266" cy="7021476"/>
            </a:xfrm>
            <a:custGeom>
              <a:avLst/>
              <a:gdLst/>
              <a:ahLst/>
              <a:cxnLst/>
              <a:rect l="l" t="t" r="r" b="b"/>
              <a:pathLst>
                <a:path w="11240266" h="7021476">
                  <a:moveTo>
                    <a:pt x="0" y="0"/>
                  </a:moveTo>
                  <a:lnTo>
                    <a:pt x="11240266" y="0"/>
                  </a:lnTo>
                  <a:lnTo>
                    <a:pt x="11240266" y="7021476"/>
                  </a:lnTo>
                  <a:lnTo>
                    <a:pt x="0" y="70214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6" b="-26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9144000" y="6120910"/>
            <a:ext cx="6022441" cy="3809204"/>
            <a:chOff x="0" y="0"/>
            <a:chExt cx="13614871" cy="861142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614871" cy="8611429"/>
            </a:xfrm>
            <a:custGeom>
              <a:avLst/>
              <a:gdLst/>
              <a:ahLst/>
              <a:cxnLst/>
              <a:rect l="l" t="t" r="r" b="b"/>
              <a:pathLst>
                <a:path w="13614871" h="8611429">
                  <a:moveTo>
                    <a:pt x="0" y="0"/>
                  </a:moveTo>
                  <a:lnTo>
                    <a:pt x="13614871" y="0"/>
                  </a:lnTo>
                  <a:lnTo>
                    <a:pt x="13614871" y="8611429"/>
                  </a:lnTo>
                  <a:lnTo>
                    <a:pt x="0" y="8611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00" r="-600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857250" y="1757362"/>
            <a:ext cx="16573500" cy="28575"/>
            <a:chOff x="0" y="0"/>
            <a:chExt cx="22098000" cy="381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098000" cy="38100"/>
            </a:xfrm>
            <a:custGeom>
              <a:avLst/>
              <a:gdLst/>
              <a:ahLst/>
              <a:cxnLst/>
              <a:rect l="l" t="t" r="r" b="b"/>
              <a:pathLst>
                <a:path w="22098000" h="38100">
                  <a:moveTo>
                    <a:pt x="0" y="0"/>
                  </a:moveTo>
                  <a:lnTo>
                    <a:pt x="22098000" y="0"/>
                  </a:lnTo>
                  <a:lnTo>
                    <a:pt x="22098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9ECEF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857250" y="5963647"/>
            <a:ext cx="5935697" cy="3809204"/>
            <a:chOff x="0" y="0"/>
            <a:chExt cx="9103121" cy="584188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03121" cy="5841883"/>
            </a:xfrm>
            <a:custGeom>
              <a:avLst/>
              <a:gdLst/>
              <a:ahLst/>
              <a:cxnLst/>
              <a:rect l="l" t="t" r="r" b="b"/>
              <a:pathLst>
                <a:path w="9103121" h="5841883">
                  <a:moveTo>
                    <a:pt x="0" y="0"/>
                  </a:moveTo>
                  <a:lnTo>
                    <a:pt x="9103121" y="0"/>
                  </a:lnTo>
                  <a:lnTo>
                    <a:pt x="9103121" y="5841883"/>
                  </a:lnTo>
                  <a:lnTo>
                    <a:pt x="0" y="58418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339" r="-1339"/>
              </a:stretch>
            </a:blipFill>
          </p:spPr>
        </p:sp>
      </p:grpSp>
      <p:sp>
        <p:nvSpPr>
          <p:cNvPr id="10" name="Freeform 10"/>
          <p:cNvSpPr/>
          <p:nvPr/>
        </p:nvSpPr>
        <p:spPr>
          <a:xfrm>
            <a:off x="857250" y="2073111"/>
            <a:ext cx="5935697" cy="3762049"/>
          </a:xfrm>
          <a:custGeom>
            <a:avLst/>
            <a:gdLst/>
            <a:ahLst/>
            <a:cxnLst/>
            <a:rect l="l" t="t" r="r" b="b"/>
            <a:pathLst>
              <a:path w="5935697" h="3762049">
                <a:moveTo>
                  <a:pt x="0" y="0"/>
                </a:moveTo>
                <a:lnTo>
                  <a:pt x="5935697" y="0"/>
                </a:lnTo>
                <a:lnTo>
                  <a:pt x="5935697" y="3762049"/>
                </a:lnTo>
                <a:lnTo>
                  <a:pt x="0" y="37620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1408"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857250" y="685800"/>
            <a:ext cx="4229100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3A8A3A"/>
                </a:solidFill>
                <a:latin typeface="Arimo Bold"/>
                <a:ea typeface="Arimo Bold"/>
                <a:cs typeface="Arimo Bold"/>
                <a:sym typeface="Arimo Bold"/>
              </a:rPr>
              <a:t>Mockup Web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9572625" y="3393053"/>
            <a:ext cx="7858125" cy="5715000"/>
            <a:chOff x="0" y="0"/>
            <a:chExt cx="10477500" cy="762000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0477500" cy="7620000"/>
            </a:xfrm>
            <a:custGeom>
              <a:avLst/>
              <a:gdLst/>
              <a:ahLst/>
              <a:cxnLst/>
              <a:rect l="l" t="t" r="r" b="b"/>
              <a:pathLst>
                <a:path w="10477500" h="7620000">
                  <a:moveTo>
                    <a:pt x="0" y="0"/>
                  </a:moveTo>
                  <a:lnTo>
                    <a:pt x="10477500" y="0"/>
                  </a:lnTo>
                  <a:lnTo>
                    <a:pt x="10477500" y="7620000"/>
                  </a:lnTo>
                  <a:lnTo>
                    <a:pt x="0" y="762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25" b="-125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9586912" y="3407340"/>
            <a:ext cx="7829550" cy="5686425"/>
            <a:chOff x="0" y="0"/>
            <a:chExt cx="10439400" cy="7581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439400" cy="7581900"/>
            </a:xfrm>
            <a:custGeom>
              <a:avLst/>
              <a:gdLst/>
              <a:ahLst/>
              <a:cxnLst/>
              <a:rect l="l" t="t" r="r" b="b"/>
              <a:pathLst>
                <a:path w="10439400" h="7581900">
                  <a:moveTo>
                    <a:pt x="0" y="0"/>
                  </a:moveTo>
                  <a:lnTo>
                    <a:pt x="10439400" y="0"/>
                  </a:lnTo>
                  <a:lnTo>
                    <a:pt x="10439400" y="7581900"/>
                  </a:lnTo>
                  <a:lnTo>
                    <a:pt x="0" y="7581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8102" r="-810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857250" y="3326759"/>
            <a:ext cx="457200" cy="414338"/>
            <a:chOff x="0" y="0"/>
            <a:chExt cx="609600" cy="552450"/>
          </a:xfrm>
        </p:grpSpPr>
        <p:sp>
          <p:nvSpPr>
            <p:cNvPr id="9" name="Freeform 9" descr="image.png"/>
            <p:cNvSpPr/>
            <p:nvPr/>
          </p:nvSpPr>
          <p:spPr>
            <a:xfrm>
              <a:off x="0" y="0"/>
              <a:ext cx="609600" cy="552450"/>
            </a:xfrm>
            <a:custGeom>
              <a:avLst/>
              <a:gdLst/>
              <a:ahLst/>
              <a:cxnLst/>
              <a:rect l="l" t="t" r="r" b="b"/>
              <a:pathLst>
                <a:path w="609600" h="552450">
                  <a:moveTo>
                    <a:pt x="0" y="0"/>
                  </a:moveTo>
                  <a:lnTo>
                    <a:pt x="609600" y="0"/>
                  </a:lnTo>
                  <a:lnTo>
                    <a:pt x="609600" y="552450"/>
                  </a:lnTo>
                  <a:lnTo>
                    <a:pt x="0" y="5524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857250" y="5309368"/>
            <a:ext cx="400050" cy="414338"/>
            <a:chOff x="0" y="0"/>
            <a:chExt cx="533400" cy="552450"/>
          </a:xfrm>
        </p:grpSpPr>
        <p:sp>
          <p:nvSpPr>
            <p:cNvPr id="11" name="Freeform 11" descr="image.png"/>
            <p:cNvSpPr/>
            <p:nvPr/>
          </p:nvSpPr>
          <p:spPr>
            <a:xfrm>
              <a:off x="0" y="0"/>
              <a:ext cx="533400" cy="552450"/>
            </a:xfrm>
            <a:custGeom>
              <a:avLst/>
              <a:gdLst/>
              <a:ahLst/>
              <a:cxnLst/>
              <a:rect l="l" t="t" r="r" b="b"/>
              <a:pathLst>
                <a:path w="533400" h="552450">
                  <a:moveTo>
                    <a:pt x="0" y="0"/>
                  </a:moveTo>
                  <a:lnTo>
                    <a:pt x="533400" y="0"/>
                  </a:lnTo>
                  <a:lnTo>
                    <a:pt x="533400" y="552450"/>
                  </a:lnTo>
                  <a:lnTo>
                    <a:pt x="0" y="5524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857250" y="1757362"/>
            <a:ext cx="16573500" cy="28575"/>
            <a:chOff x="0" y="0"/>
            <a:chExt cx="22098000" cy="381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2098000" cy="38100"/>
            </a:xfrm>
            <a:custGeom>
              <a:avLst/>
              <a:gdLst/>
              <a:ahLst/>
              <a:cxnLst/>
              <a:rect l="l" t="t" r="r" b="b"/>
              <a:pathLst>
                <a:path w="22098000" h="38100">
                  <a:moveTo>
                    <a:pt x="0" y="0"/>
                  </a:moveTo>
                  <a:lnTo>
                    <a:pt x="22098000" y="0"/>
                  </a:lnTo>
                  <a:lnTo>
                    <a:pt x="22098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9ECEF"/>
            </a:solidFill>
          </p:spPr>
        </p:sp>
      </p:grpSp>
      <p:sp>
        <p:nvSpPr>
          <p:cNvPr id="14" name="TextBox 14"/>
          <p:cNvSpPr txBox="1"/>
          <p:nvPr/>
        </p:nvSpPr>
        <p:spPr>
          <a:xfrm>
            <a:off x="1500188" y="3171977"/>
            <a:ext cx="7215188" cy="17301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 b="1">
                <a:solidFill>
                  <a:srgbClr val="212529"/>
                </a:solidFill>
                <a:latin typeface="Arimo Bold"/>
                <a:ea typeface="Arimo Bold"/>
                <a:cs typeface="Arimo Bold"/>
                <a:sym typeface="Arimo Bold"/>
              </a:rPr>
              <a:t>Residente (Autoservicio)</a:t>
            </a:r>
            <a:r>
              <a:rPr lang="en-US" sz="2475">
                <a:solidFill>
                  <a:srgbClr val="495057"/>
                </a:solidFill>
                <a:latin typeface="Arimo"/>
                <a:ea typeface="Arimo"/>
                <a:cs typeface="Arimo"/>
                <a:sym typeface="Arimo"/>
              </a:rPr>
              <a:t> Pago rápido de cuentas, visualización de boletas, reservas de espacios sin fricción y foro comunitario.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00188" y="5154587"/>
            <a:ext cx="7215188" cy="17301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 b="1">
                <a:solidFill>
                  <a:srgbClr val="212529"/>
                </a:solidFill>
                <a:latin typeface="Arimo Bold"/>
                <a:ea typeface="Arimo Bold"/>
                <a:cs typeface="Arimo Bold"/>
                <a:sym typeface="Arimo Bold"/>
              </a:rPr>
              <a:t>Conserje (Operación Real-Time)</a:t>
            </a:r>
            <a:r>
              <a:rPr lang="en-US" sz="2475">
                <a:solidFill>
                  <a:srgbClr val="495057"/>
                </a:solidFill>
                <a:latin typeface="Arimo"/>
                <a:ea typeface="Arimo"/>
                <a:cs typeface="Arimo"/>
                <a:sym typeface="Arimo"/>
              </a:rPr>
              <a:t> Registro ágil de visitas, control de patentes, gestión de encomiendas y bitácora de novedades del turno.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57250" y="685800"/>
            <a:ext cx="6057781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3A8A3A"/>
                </a:solidFill>
                <a:latin typeface="Arimo Bold"/>
                <a:ea typeface="Arimo Bold"/>
                <a:cs typeface="Arimo Bold"/>
                <a:sym typeface="Arimo Bold"/>
              </a:rPr>
              <a:t>Mockup App Movil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572625" y="3393053"/>
            <a:ext cx="7858125" cy="5715000"/>
            <a:chOff x="0" y="0"/>
            <a:chExt cx="10477500" cy="7620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10477500" cy="7620000"/>
            </a:xfrm>
            <a:custGeom>
              <a:avLst/>
              <a:gdLst/>
              <a:ahLst/>
              <a:cxnLst/>
              <a:rect l="l" t="t" r="r" b="b"/>
              <a:pathLst>
                <a:path w="10477500" h="7620000">
                  <a:moveTo>
                    <a:pt x="0" y="0"/>
                  </a:moveTo>
                  <a:lnTo>
                    <a:pt x="10477500" y="0"/>
                  </a:lnTo>
                  <a:lnTo>
                    <a:pt x="10477500" y="7620000"/>
                  </a:lnTo>
                  <a:lnTo>
                    <a:pt x="0" y="762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25" b="-125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9586912" y="3407340"/>
            <a:ext cx="7829550" cy="5686425"/>
            <a:chOff x="0" y="0"/>
            <a:chExt cx="10439400" cy="75819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439400" cy="7581900"/>
            </a:xfrm>
            <a:custGeom>
              <a:avLst/>
              <a:gdLst/>
              <a:ahLst/>
              <a:cxnLst/>
              <a:rect l="l" t="t" r="r" b="b"/>
              <a:pathLst>
                <a:path w="10439400" h="7581900">
                  <a:moveTo>
                    <a:pt x="0" y="0"/>
                  </a:moveTo>
                  <a:lnTo>
                    <a:pt x="10439400" y="0"/>
                  </a:lnTo>
                  <a:lnTo>
                    <a:pt x="10439400" y="7581900"/>
                  </a:lnTo>
                  <a:lnTo>
                    <a:pt x="0" y="7581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102" r="-810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857250" y="1757362"/>
            <a:ext cx="16573500" cy="28575"/>
            <a:chOff x="0" y="0"/>
            <a:chExt cx="22098000" cy="381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098000" cy="38100"/>
            </a:xfrm>
            <a:custGeom>
              <a:avLst/>
              <a:gdLst/>
              <a:ahLst/>
              <a:cxnLst/>
              <a:rect l="l" t="t" r="r" b="b"/>
              <a:pathLst>
                <a:path w="22098000" h="38100">
                  <a:moveTo>
                    <a:pt x="0" y="0"/>
                  </a:moveTo>
                  <a:lnTo>
                    <a:pt x="22098000" y="0"/>
                  </a:lnTo>
                  <a:lnTo>
                    <a:pt x="22098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9ECEF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857250" y="685800"/>
            <a:ext cx="6057781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3A8A3A"/>
                </a:solidFill>
                <a:latin typeface="Arimo Bold"/>
                <a:ea typeface="Arimo Bold"/>
                <a:cs typeface="Arimo Bold"/>
                <a:sym typeface="Arimo Bold"/>
              </a:rPr>
              <a:t>Mockup App Movil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171575" y="3421628"/>
            <a:ext cx="7829550" cy="5686425"/>
            <a:chOff x="0" y="0"/>
            <a:chExt cx="10439400" cy="75819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439400" cy="7581900"/>
            </a:xfrm>
            <a:custGeom>
              <a:avLst/>
              <a:gdLst/>
              <a:ahLst/>
              <a:cxnLst/>
              <a:rect l="l" t="t" r="r" b="b"/>
              <a:pathLst>
                <a:path w="10439400" h="7581900">
                  <a:moveTo>
                    <a:pt x="0" y="0"/>
                  </a:moveTo>
                  <a:lnTo>
                    <a:pt x="10439400" y="0"/>
                  </a:lnTo>
                  <a:lnTo>
                    <a:pt x="10439400" y="7581900"/>
                  </a:lnTo>
                  <a:lnTo>
                    <a:pt x="0" y="7581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8102" r="-8102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572625" y="3393053"/>
            <a:ext cx="7858125" cy="5715000"/>
            <a:chOff x="0" y="0"/>
            <a:chExt cx="10477500" cy="7620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10477500" cy="7620000"/>
            </a:xfrm>
            <a:custGeom>
              <a:avLst/>
              <a:gdLst/>
              <a:ahLst/>
              <a:cxnLst/>
              <a:rect l="l" t="t" r="r" b="b"/>
              <a:pathLst>
                <a:path w="10477500" h="7620000">
                  <a:moveTo>
                    <a:pt x="0" y="0"/>
                  </a:moveTo>
                  <a:lnTo>
                    <a:pt x="10477500" y="0"/>
                  </a:lnTo>
                  <a:lnTo>
                    <a:pt x="10477500" y="7620000"/>
                  </a:lnTo>
                  <a:lnTo>
                    <a:pt x="0" y="762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25" b="-125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9586912" y="3407340"/>
            <a:ext cx="7829550" cy="5686425"/>
            <a:chOff x="0" y="0"/>
            <a:chExt cx="10439400" cy="75819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439400" cy="7581900"/>
            </a:xfrm>
            <a:custGeom>
              <a:avLst/>
              <a:gdLst/>
              <a:ahLst/>
              <a:cxnLst/>
              <a:rect l="l" t="t" r="r" b="b"/>
              <a:pathLst>
                <a:path w="10439400" h="7581900">
                  <a:moveTo>
                    <a:pt x="0" y="0"/>
                  </a:moveTo>
                  <a:lnTo>
                    <a:pt x="10439400" y="0"/>
                  </a:lnTo>
                  <a:lnTo>
                    <a:pt x="10439400" y="7581900"/>
                  </a:lnTo>
                  <a:lnTo>
                    <a:pt x="0" y="7581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102" r="-810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857250" y="1757362"/>
            <a:ext cx="16573500" cy="28575"/>
            <a:chOff x="0" y="0"/>
            <a:chExt cx="22098000" cy="381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098000" cy="38100"/>
            </a:xfrm>
            <a:custGeom>
              <a:avLst/>
              <a:gdLst/>
              <a:ahLst/>
              <a:cxnLst/>
              <a:rect l="l" t="t" r="r" b="b"/>
              <a:pathLst>
                <a:path w="22098000" h="38100">
                  <a:moveTo>
                    <a:pt x="0" y="0"/>
                  </a:moveTo>
                  <a:lnTo>
                    <a:pt x="22098000" y="0"/>
                  </a:lnTo>
                  <a:lnTo>
                    <a:pt x="22098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9ECEF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857250" y="3407340"/>
            <a:ext cx="8398035" cy="5686425"/>
          </a:xfrm>
          <a:custGeom>
            <a:avLst/>
            <a:gdLst/>
            <a:ahLst/>
            <a:cxnLst/>
            <a:rect l="l" t="t" r="r" b="b"/>
            <a:pathLst>
              <a:path w="8398035" h="5686425">
                <a:moveTo>
                  <a:pt x="0" y="0"/>
                </a:moveTo>
                <a:lnTo>
                  <a:pt x="8398035" y="0"/>
                </a:lnTo>
                <a:lnTo>
                  <a:pt x="8398035" y="5686425"/>
                </a:lnTo>
                <a:lnTo>
                  <a:pt x="0" y="5686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169" r="-4169"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857250" y="685800"/>
            <a:ext cx="6057781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3A8A3A"/>
                </a:solidFill>
                <a:latin typeface="Arimo Bold"/>
                <a:ea typeface="Arimo Bold"/>
                <a:cs typeface="Arimo Bold"/>
                <a:sym typeface="Arimo Bold"/>
              </a:rPr>
              <a:t>Mockup App Movil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317</Words>
  <Application>Microsoft Office PowerPoint</Application>
  <PresentationFormat>Personalizado</PresentationFormat>
  <Paragraphs>28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Arial</vt:lpstr>
      <vt:lpstr>Calibri</vt:lpstr>
      <vt:lpstr>Arimo Bold</vt:lpstr>
      <vt:lpstr>Arimo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LifeBetter - Proyecto de Título.pptx</dc:title>
  <cp:lastModifiedBy>Ismael</cp:lastModifiedBy>
  <cp:revision>2</cp:revision>
  <dcterms:created xsi:type="dcterms:W3CDTF">2006-08-16T00:00:00Z</dcterms:created>
  <dcterms:modified xsi:type="dcterms:W3CDTF">2026-10-24T17:59:37Z</dcterms:modified>
  <dc:identifier>DAHTnbsdYNg</dc:identifier>
</cp:coreProperties>
</file>