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mo Bold" charset="1" panose="020B0704020202020204"/>
      <p:regular r:id="rId14"/>
    </p:embeddedFont>
    <p:embeddedFont>
      <p:font typeface="Arimo" charset="1" panose="020B06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8.jpeg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93556" y="3237681"/>
            <a:ext cx="1428750" cy="1143000"/>
            <a:chOff x="0" y="0"/>
            <a:chExt cx="1905000" cy="1524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905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4" r="0" b="-12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012644" y="4714056"/>
            <a:ext cx="4590574" cy="108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8100" b="true">
                <a:solidFill>
                  <a:srgbClr val="212529"/>
                </a:solidFill>
                <a:latin typeface="Arimo Bold"/>
                <a:ea typeface="Arimo Bold"/>
                <a:cs typeface="Arimo Bold"/>
                <a:sym typeface="Arimo Bold"/>
              </a:rPr>
              <a:t>LifeBetter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5959745"/>
            <a:ext cx="10901362" cy="71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2925">
                <a:solidFill>
                  <a:srgbClr val="6C757D"/>
                </a:solidFill>
                <a:latin typeface="Arimo"/>
                <a:ea typeface="Arimo"/>
                <a:cs typeface="Arimo"/>
                <a:sym typeface="Arimo"/>
              </a:rPr>
              <a:t>Plataforma SaaS I+D+i para la Gestión Inteligente de Condominios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72625" y="3799361"/>
            <a:ext cx="7858125" cy="5715000"/>
            <a:chOff x="0" y="0"/>
            <a:chExt cx="1047750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5" r="0" b="-1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86912" y="3813648"/>
            <a:ext cx="7829550" cy="5686425"/>
            <a:chOff x="0" y="0"/>
            <a:chExt cx="10439400" cy="7581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39400" cy="7581900"/>
            </a:xfrm>
            <a:custGeom>
              <a:avLst/>
              <a:gdLst/>
              <a:ahLst/>
              <a:cxnLst/>
              <a:rect r="r" b="b" t="t" l="l"/>
              <a:pathLst>
                <a:path h="7581900" w="10439400">
                  <a:moveTo>
                    <a:pt x="0" y="0"/>
                  </a:moveTo>
                  <a:lnTo>
                    <a:pt x="10439400" y="0"/>
                  </a:lnTo>
                  <a:lnTo>
                    <a:pt x="1043940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00188" y="2824163"/>
            <a:ext cx="7215188" cy="223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212529"/>
                </a:solidFill>
                <a:latin typeface="Arimo Bold"/>
                <a:ea typeface="Arimo Bold"/>
                <a:cs typeface="Arimo Bold"/>
                <a:sym typeface="Arimo Bold"/>
              </a:rPr>
              <a:t>Gestión Manual y Fragmentada</a:t>
            </a:r>
            <a:r>
              <a:rPr lang="en-US" sz="2475">
                <a:solidFill>
                  <a:srgbClr val="495057"/>
                </a:solidFill>
                <a:latin typeface="Arimo"/>
                <a:ea typeface="Arimo"/>
                <a:cs typeface="Arimo"/>
                <a:sym typeface="Arimo"/>
              </a:rPr>
              <a:t> Uso excesivo de planillas Excel propensas a errores de cálculo (#VALUE!) en el prorrateo de gastos comunes.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0188" y="5309521"/>
            <a:ext cx="7215188" cy="223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212529"/>
                </a:solidFill>
                <a:latin typeface="Arimo Bold"/>
                <a:ea typeface="Arimo Bold"/>
                <a:cs typeface="Arimo Bold"/>
                <a:sym typeface="Arimo Bold"/>
              </a:rPr>
              <a:t>Cobranza Ineficiente</a:t>
            </a:r>
            <a:r>
              <a:rPr lang="en-US" sz="2475">
                <a:solidFill>
                  <a:srgbClr val="495057"/>
                </a:solidFill>
                <a:latin typeface="Arimo"/>
                <a:ea typeface="Arimo"/>
                <a:cs typeface="Arimo"/>
                <a:sym typeface="Arimo"/>
              </a:rPr>
              <a:t> Conciliación bancaria manual, envíos de comprobantes por WhatsApp y alta morosidad por fricción en el pago.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7312" y="7628191"/>
            <a:ext cx="7215188" cy="223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212529"/>
                </a:solidFill>
                <a:latin typeface="Arimo Bold"/>
                <a:ea typeface="Arimo Bold"/>
                <a:cs typeface="Arimo Bold"/>
                <a:sym typeface="Arimo Bold"/>
              </a:rPr>
              <a:t>Conflictos Comunitarios</a:t>
            </a:r>
            <a:r>
              <a:rPr lang="en-US" sz="2475">
                <a:solidFill>
                  <a:srgbClr val="495057"/>
                </a:solidFill>
                <a:latin typeface="Arimo"/>
                <a:ea typeface="Arimo"/>
                <a:cs typeface="Arimo"/>
                <a:sym typeface="Arimo"/>
              </a:rPr>
              <a:t> Reservas de espacios comunes en cuadernos que generan traslapes, y canales de comunicación informales.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57250" y="2978944"/>
            <a:ext cx="300038" cy="414338"/>
            <a:chOff x="0" y="0"/>
            <a:chExt cx="400050" cy="55245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400050" cy="552450"/>
            </a:xfrm>
            <a:custGeom>
              <a:avLst/>
              <a:gdLst/>
              <a:ahLst/>
              <a:cxnLst/>
              <a:rect r="r" b="b" t="t" l="l"/>
              <a:pathLst>
                <a:path h="55245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57250" y="5464302"/>
            <a:ext cx="500062" cy="414338"/>
            <a:chOff x="0" y="0"/>
            <a:chExt cx="666750" cy="55245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666750" cy="552450"/>
            </a:xfrm>
            <a:custGeom>
              <a:avLst/>
              <a:gdLst/>
              <a:ahLst/>
              <a:cxnLst/>
              <a:rect r="r" b="b" t="t" l="l"/>
              <a:pathLst>
                <a:path h="55245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7250" y="7949651"/>
            <a:ext cx="357188" cy="414338"/>
            <a:chOff x="0" y="0"/>
            <a:chExt cx="476250" cy="5524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476250" cy="552450"/>
            </a:xfrm>
            <a:custGeom>
              <a:avLst/>
              <a:gdLst/>
              <a:ahLst/>
              <a:cxnLst/>
              <a:rect r="r" b="b" t="t" l="l"/>
              <a:pathLst>
                <a:path h="55245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57250" y="685800"/>
            <a:ext cx="17402175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A8A3A"/>
                </a:solidFill>
                <a:latin typeface="Arimo Bold"/>
                <a:ea typeface="Arimo Bold"/>
                <a:cs typeface="Arimo Bold"/>
                <a:sym typeface="Arimo Bold"/>
              </a:rPr>
              <a:t>El Problema de la Gestión Actual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7250" y="1757362"/>
            <a:ext cx="16573500" cy="28575"/>
            <a:chOff x="0" y="0"/>
            <a:chExt cx="22098000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098000" cy="38100"/>
            </a:xfrm>
            <a:custGeom>
              <a:avLst/>
              <a:gdLst/>
              <a:ahLst/>
              <a:cxnLst/>
              <a:rect r="r" b="b" t="t" l="l"/>
              <a:pathLst>
                <a:path h="381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9ECEF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8049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685800"/>
            <a:ext cx="28956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A8A3A"/>
                </a:solidFill>
                <a:latin typeface="Arimo Bold"/>
                <a:ea typeface="Arimo Bold"/>
                <a:cs typeface="Arimo Bold"/>
                <a:sym typeface="Arimo Bold"/>
              </a:rPr>
              <a:t>Solución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7250" y="1757362"/>
            <a:ext cx="16573500" cy="28575"/>
            <a:chOff x="0" y="0"/>
            <a:chExt cx="220980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38100"/>
            </a:xfrm>
            <a:custGeom>
              <a:avLst/>
              <a:gdLst/>
              <a:ahLst/>
              <a:cxnLst/>
              <a:rect r="r" b="b" t="t" l="l"/>
              <a:pathLst>
                <a:path h="381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9ECE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18042" y="6840855"/>
            <a:ext cx="10027488" cy="295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212529"/>
                </a:solidFill>
                <a:latin typeface="Arimo Bold"/>
                <a:ea typeface="Arimo Bold"/>
                <a:cs typeface="Arimo Bold"/>
                <a:sym typeface="Arimo Bold"/>
              </a:rPr>
              <a:t>Gestión Manual y Fragmentada</a:t>
            </a:r>
            <a:r>
              <a:rPr lang="en-US" sz="2475">
                <a:solidFill>
                  <a:srgbClr val="49505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495057"/>
                </a:solidFill>
                <a:latin typeface="Arimo Bold"/>
                <a:ea typeface="Arimo Bold"/>
                <a:cs typeface="Arimo Bold"/>
                <a:sym typeface="Arimo Bold"/>
              </a:rPr>
              <a:t>Implementamos un asistente virtual inteligente capaz de responder dudas legales 24/7. Lee la Ley 21.442 y el reglamento del condominio para entregar respuestas fundamentadas a los residentes</a:t>
            </a:r>
          </a:p>
          <a:p>
            <a:pPr algn="l">
              <a:lnSpc>
                <a:spcPts val="396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18042" y="2269525"/>
            <a:ext cx="7215188" cy="196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212529"/>
                </a:solidFill>
                <a:latin typeface="Arimo Bold"/>
                <a:ea typeface="Arimo Bold"/>
                <a:cs typeface="Arimo Bold"/>
                <a:sym typeface="Arimo Bold"/>
              </a:rPr>
              <a:t>Admini</a:t>
            </a:r>
            <a:r>
              <a:rPr lang="en-US" sz="2475" b="true">
                <a:solidFill>
                  <a:srgbClr val="212529"/>
                </a:solidFill>
                <a:latin typeface="Arimo Bold"/>
                <a:ea typeface="Arimo Bold"/>
                <a:cs typeface="Arimo Bold"/>
                <a:sym typeface="Arimo Bold"/>
              </a:rPr>
              <a:t>stración y Finanzas Automatizadas</a:t>
            </a:r>
          </a:p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495057"/>
                </a:solidFill>
                <a:latin typeface="Arimo Bold"/>
                <a:ea typeface="Arimo Bold"/>
                <a:cs typeface="Arimo Bold"/>
                <a:sym typeface="Arimo Bold"/>
              </a:rPr>
              <a:t>Integramos pagos en línea seguros (Webpay Plus) y generamos colillas de cobro digitales al instante, reduciendo la morosidad.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8042" y="4555190"/>
            <a:ext cx="14146914" cy="196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212529"/>
                </a:solidFill>
                <a:latin typeface="Arimo Bold"/>
                <a:ea typeface="Arimo Bold"/>
                <a:cs typeface="Arimo Bold"/>
                <a:sym typeface="Arimo Bold"/>
              </a:rPr>
              <a:t>S</a:t>
            </a:r>
            <a:r>
              <a:rPr lang="en-US" sz="2475" b="true">
                <a:solidFill>
                  <a:srgbClr val="212529"/>
                </a:solidFill>
                <a:latin typeface="Arimo Bold"/>
                <a:ea typeface="Arimo Bold"/>
                <a:cs typeface="Arimo Bold"/>
                <a:sym typeface="Arimo Bold"/>
              </a:rPr>
              <a:t>eguridad Inteligente</a:t>
            </a:r>
            <a:r>
              <a:rPr lang="en-US" sz="2475">
                <a:solidFill>
                  <a:srgbClr val="49505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495057"/>
                </a:solidFill>
                <a:latin typeface="Arimo Bold"/>
                <a:ea typeface="Arimo Bold"/>
                <a:cs typeface="Arimo Bold"/>
                <a:sym typeface="Arimo Bold"/>
              </a:rPr>
              <a:t>Accesos Peatonales: Generación de pases QR dinámicos y temporales para visitas, validados directamente por conserjería.</a:t>
            </a:r>
          </a:p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495057"/>
                </a:solidFill>
                <a:latin typeface="Arimo Bold"/>
                <a:ea typeface="Arimo Bold"/>
                <a:cs typeface="Arimo Bold"/>
                <a:sym typeface="Arimo Bold"/>
              </a:rPr>
              <a:t> IA que notifique mediante alertas de patentes de vehículos asociados a departamento.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72625" y="3393053"/>
            <a:ext cx="7858125" cy="5715000"/>
            <a:chOff x="0" y="0"/>
            <a:chExt cx="10477500" cy="762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775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181" t="0" r="-818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3326759"/>
            <a:ext cx="457200" cy="414338"/>
            <a:chOff x="0" y="0"/>
            <a:chExt cx="609600" cy="5524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09600" cy="552450"/>
            </a:xfrm>
            <a:custGeom>
              <a:avLst/>
              <a:gdLst/>
              <a:ahLst/>
              <a:cxnLst/>
              <a:rect r="r" b="b" t="t" l="l"/>
              <a:pathLst>
                <a:path h="55245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5309368"/>
            <a:ext cx="400050" cy="414338"/>
            <a:chOff x="0" y="0"/>
            <a:chExt cx="533400" cy="5524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33400" cy="552450"/>
            </a:xfrm>
            <a:custGeom>
              <a:avLst/>
              <a:gdLst/>
              <a:ahLst/>
              <a:cxnLst/>
              <a:rect r="r" b="b" t="t" l="l"/>
              <a:pathLst>
                <a:path h="55245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7250" y="7291978"/>
            <a:ext cx="400050" cy="414338"/>
            <a:chOff x="0" y="0"/>
            <a:chExt cx="533400" cy="5524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33400" cy="552450"/>
            </a:xfrm>
            <a:custGeom>
              <a:avLst/>
              <a:gdLst/>
              <a:ahLst/>
              <a:cxnLst/>
              <a:rect r="r" b="b" t="t" l="l"/>
              <a:pathLst>
                <a:path h="55245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1757362"/>
            <a:ext cx="16573500" cy="28575"/>
            <a:chOff x="0" y="0"/>
            <a:chExt cx="22098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098000" cy="38100"/>
            </a:xfrm>
            <a:custGeom>
              <a:avLst/>
              <a:gdLst/>
              <a:ahLst/>
              <a:cxnLst/>
              <a:rect r="r" b="b" t="t" l="l"/>
              <a:pathLst>
                <a:path h="381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9ECE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00188" y="3171977"/>
            <a:ext cx="7215188" cy="173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212529"/>
                </a:solidFill>
                <a:latin typeface="Arimo Bold"/>
                <a:ea typeface="Arimo Bold"/>
                <a:cs typeface="Arimo Bold"/>
                <a:sym typeface="Arimo Bold"/>
              </a:rPr>
              <a:t>Residente (Autoservicio)</a:t>
            </a:r>
            <a:r>
              <a:rPr lang="en-US" sz="2475">
                <a:solidFill>
                  <a:srgbClr val="495057"/>
                </a:solidFill>
                <a:latin typeface="Arimo"/>
                <a:ea typeface="Arimo"/>
                <a:cs typeface="Arimo"/>
                <a:sym typeface="Arimo"/>
              </a:rPr>
              <a:t> Pago rápido de cuentas, visualización de boletas, reservas de espacios sin fricción y foro comunitario.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0188" y="5154587"/>
            <a:ext cx="7215188" cy="173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212529"/>
                </a:solidFill>
                <a:latin typeface="Arimo Bold"/>
                <a:ea typeface="Arimo Bold"/>
                <a:cs typeface="Arimo Bold"/>
                <a:sym typeface="Arimo Bold"/>
              </a:rPr>
              <a:t>Conserje (Operación Real-Time)</a:t>
            </a:r>
            <a:r>
              <a:rPr lang="en-US" sz="2475">
                <a:solidFill>
                  <a:srgbClr val="495057"/>
                </a:solidFill>
                <a:latin typeface="Arimo"/>
                <a:ea typeface="Arimo"/>
                <a:cs typeface="Arimo"/>
                <a:sym typeface="Arimo"/>
              </a:rPr>
              <a:t> Registro ágil de visitas, control de patentes, gestión de encomiendas y bitácora de novedades del turno.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0188" y="7137197"/>
            <a:ext cx="7215188" cy="173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212529"/>
                </a:solidFill>
                <a:latin typeface="Arimo Bold"/>
                <a:ea typeface="Arimo Bold"/>
                <a:cs typeface="Arimo Bold"/>
                <a:sym typeface="Arimo Bold"/>
              </a:rPr>
              <a:t>Administrador (Finanzas)</a:t>
            </a:r>
            <a:r>
              <a:rPr lang="en-US" sz="2475">
                <a:solidFill>
                  <a:srgbClr val="495057"/>
                </a:solidFill>
                <a:latin typeface="Arimo"/>
                <a:ea typeface="Arimo"/>
                <a:cs typeface="Arimo"/>
                <a:sym typeface="Arimo"/>
              </a:rPr>
              <a:t> KPIs de morosidad vs recaudación, emisión masiva de gastos comunes y gestión de múltiples edificios.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" y="685800"/>
            <a:ext cx="42291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A8A3A"/>
                </a:solidFill>
                <a:latin typeface="Arimo Bold"/>
                <a:ea typeface="Arimo Bold"/>
                <a:cs typeface="Arimo Bold"/>
                <a:sym typeface="Arimo Bold"/>
              </a:rPr>
              <a:t>Mockup Web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2072399"/>
            <a:ext cx="6022441" cy="3762049"/>
            <a:chOff x="0" y="0"/>
            <a:chExt cx="11240266" cy="7021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40266" cy="7021476"/>
            </a:xfrm>
            <a:custGeom>
              <a:avLst/>
              <a:gdLst/>
              <a:ahLst/>
              <a:cxnLst/>
              <a:rect r="r" b="b" t="t" l="l"/>
              <a:pathLst>
                <a:path h="7021476" w="11240266">
                  <a:moveTo>
                    <a:pt x="0" y="0"/>
                  </a:moveTo>
                  <a:lnTo>
                    <a:pt x="11240266" y="0"/>
                  </a:lnTo>
                  <a:lnTo>
                    <a:pt x="11240266" y="7021476"/>
                  </a:lnTo>
                  <a:lnTo>
                    <a:pt x="0" y="7021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6120910"/>
            <a:ext cx="6022441" cy="3809204"/>
            <a:chOff x="0" y="0"/>
            <a:chExt cx="13614871" cy="8611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614871" cy="8611429"/>
            </a:xfrm>
            <a:custGeom>
              <a:avLst/>
              <a:gdLst/>
              <a:ahLst/>
              <a:cxnLst/>
              <a:rect r="r" b="b" t="t" l="l"/>
              <a:pathLst>
                <a:path h="8611429" w="13614871">
                  <a:moveTo>
                    <a:pt x="0" y="0"/>
                  </a:moveTo>
                  <a:lnTo>
                    <a:pt x="13614871" y="0"/>
                  </a:lnTo>
                  <a:lnTo>
                    <a:pt x="13614871" y="8611429"/>
                  </a:lnTo>
                  <a:lnTo>
                    <a:pt x="0" y="8611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00" t="0" r="-60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1757362"/>
            <a:ext cx="16573500" cy="28575"/>
            <a:chOff x="0" y="0"/>
            <a:chExt cx="22098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8000" cy="38100"/>
            </a:xfrm>
            <a:custGeom>
              <a:avLst/>
              <a:gdLst/>
              <a:ahLst/>
              <a:cxnLst/>
              <a:rect r="r" b="b" t="t" l="l"/>
              <a:pathLst>
                <a:path h="381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9ECE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5963647"/>
            <a:ext cx="5935697" cy="3809204"/>
            <a:chOff x="0" y="0"/>
            <a:chExt cx="9103121" cy="5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03121" cy="5841883"/>
            </a:xfrm>
            <a:custGeom>
              <a:avLst/>
              <a:gdLst/>
              <a:ahLst/>
              <a:cxnLst/>
              <a:rect r="r" b="b" t="t" l="l"/>
              <a:pathLst>
                <a:path h="5841883" w="9103121">
                  <a:moveTo>
                    <a:pt x="0" y="0"/>
                  </a:moveTo>
                  <a:lnTo>
                    <a:pt x="9103121" y="0"/>
                  </a:lnTo>
                  <a:lnTo>
                    <a:pt x="9103121" y="5841883"/>
                  </a:lnTo>
                  <a:lnTo>
                    <a:pt x="0" y="5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39" t="0" r="-1339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857250" y="2073111"/>
            <a:ext cx="5935697" cy="3762049"/>
          </a:xfrm>
          <a:custGeom>
            <a:avLst/>
            <a:gdLst/>
            <a:ahLst/>
            <a:cxnLst/>
            <a:rect r="r" b="b" t="t" l="l"/>
            <a:pathLst>
              <a:path h="3762049" w="5935697">
                <a:moveTo>
                  <a:pt x="0" y="0"/>
                </a:moveTo>
                <a:lnTo>
                  <a:pt x="5935697" y="0"/>
                </a:lnTo>
                <a:lnTo>
                  <a:pt x="5935697" y="3762049"/>
                </a:lnTo>
                <a:lnTo>
                  <a:pt x="0" y="37620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408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57250" y="685800"/>
            <a:ext cx="42291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A8A3A"/>
                </a:solidFill>
                <a:latin typeface="Arimo Bold"/>
                <a:ea typeface="Arimo Bold"/>
                <a:cs typeface="Arimo Bold"/>
                <a:sym typeface="Arimo Bold"/>
              </a:rPr>
              <a:t>Mockup Web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72625" y="3393053"/>
            <a:ext cx="7858125" cy="5715000"/>
            <a:chOff x="0" y="0"/>
            <a:chExt cx="1047750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5" r="0" b="-1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86912" y="3407340"/>
            <a:ext cx="7829550" cy="5686425"/>
            <a:chOff x="0" y="0"/>
            <a:chExt cx="10439400" cy="7581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39400" cy="7581900"/>
            </a:xfrm>
            <a:custGeom>
              <a:avLst/>
              <a:gdLst/>
              <a:ahLst/>
              <a:cxnLst/>
              <a:rect r="r" b="b" t="t" l="l"/>
              <a:pathLst>
                <a:path h="7581900" w="10439400">
                  <a:moveTo>
                    <a:pt x="0" y="0"/>
                  </a:moveTo>
                  <a:lnTo>
                    <a:pt x="10439400" y="0"/>
                  </a:lnTo>
                  <a:lnTo>
                    <a:pt x="1043940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102" t="0" r="-810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3326759"/>
            <a:ext cx="457200" cy="414338"/>
            <a:chOff x="0" y="0"/>
            <a:chExt cx="609600" cy="5524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09600" cy="552450"/>
            </a:xfrm>
            <a:custGeom>
              <a:avLst/>
              <a:gdLst/>
              <a:ahLst/>
              <a:cxnLst/>
              <a:rect r="r" b="b" t="t" l="l"/>
              <a:pathLst>
                <a:path h="55245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7250" y="5309368"/>
            <a:ext cx="400050" cy="414338"/>
            <a:chOff x="0" y="0"/>
            <a:chExt cx="533400" cy="5524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33400" cy="552450"/>
            </a:xfrm>
            <a:custGeom>
              <a:avLst/>
              <a:gdLst/>
              <a:ahLst/>
              <a:cxnLst/>
              <a:rect r="r" b="b" t="t" l="l"/>
              <a:pathLst>
                <a:path h="55245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1757362"/>
            <a:ext cx="16573500" cy="28575"/>
            <a:chOff x="0" y="0"/>
            <a:chExt cx="22098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098000" cy="38100"/>
            </a:xfrm>
            <a:custGeom>
              <a:avLst/>
              <a:gdLst/>
              <a:ahLst/>
              <a:cxnLst/>
              <a:rect r="r" b="b" t="t" l="l"/>
              <a:pathLst>
                <a:path h="381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9ECE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00188" y="3171977"/>
            <a:ext cx="7215188" cy="173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212529"/>
                </a:solidFill>
                <a:latin typeface="Arimo Bold"/>
                <a:ea typeface="Arimo Bold"/>
                <a:cs typeface="Arimo Bold"/>
                <a:sym typeface="Arimo Bold"/>
              </a:rPr>
              <a:t>Residente (Autoservicio)</a:t>
            </a:r>
            <a:r>
              <a:rPr lang="en-US" sz="2475">
                <a:solidFill>
                  <a:srgbClr val="495057"/>
                </a:solidFill>
                <a:latin typeface="Arimo"/>
                <a:ea typeface="Arimo"/>
                <a:cs typeface="Arimo"/>
                <a:sym typeface="Arimo"/>
              </a:rPr>
              <a:t> Pago rápido de cuentas, visualización de boletas, reservas de espacios sin fricción y foro comunitario.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0188" y="5154587"/>
            <a:ext cx="7215188" cy="173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212529"/>
                </a:solidFill>
                <a:latin typeface="Arimo Bold"/>
                <a:ea typeface="Arimo Bold"/>
                <a:cs typeface="Arimo Bold"/>
                <a:sym typeface="Arimo Bold"/>
              </a:rPr>
              <a:t>Conserje (Operación Real-Time)</a:t>
            </a:r>
            <a:r>
              <a:rPr lang="en-US" sz="2475">
                <a:solidFill>
                  <a:srgbClr val="495057"/>
                </a:solidFill>
                <a:latin typeface="Arimo"/>
                <a:ea typeface="Arimo"/>
                <a:cs typeface="Arimo"/>
                <a:sym typeface="Arimo"/>
              </a:rPr>
              <a:t> Registro ágil de visitas, control de patentes, gestión de encomiendas y bitácora de novedades del turno.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7250" y="685800"/>
            <a:ext cx="6057781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A8A3A"/>
                </a:solidFill>
                <a:latin typeface="Arimo Bold"/>
                <a:ea typeface="Arimo Bold"/>
                <a:cs typeface="Arimo Bold"/>
                <a:sym typeface="Arimo Bold"/>
              </a:rPr>
              <a:t>Mockup App Movil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2625" y="3393053"/>
            <a:ext cx="7858125" cy="5715000"/>
            <a:chOff x="0" y="0"/>
            <a:chExt cx="10477500" cy="7620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4775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5" r="0" b="-12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86912" y="3407340"/>
            <a:ext cx="7829550" cy="5686425"/>
            <a:chOff x="0" y="0"/>
            <a:chExt cx="10439400" cy="7581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39400" cy="7581900"/>
            </a:xfrm>
            <a:custGeom>
              <a:avLst/>
              <a:gdLst/>
              <a:ahLst/>
              <a:cxnLst/>
              <a:rect r="r" b="b" t="t" l="l"/>
              <a:pathLst>
                <a:path h="7581900" w="10439400">
                  <a:moveTo>
                    <a:pt x="0" y="0"/>
                  </a:moveTo>
                  <a:lnTo>
                    <a:pt x="10439400" y="0"/>
                  </a:lnTo>
                  <a:lnTo>
                    <a:pt x="1043940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102" t="0" r="-810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1757362"/>
            <a:ext cx="16573500" cy="28575"/>
            <a:chOff x="0" y="0"/>
            <a:chExt cx="22098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8000" cy="38100"/>
            </a:xfrm>
            <a:custGeom>
              <a:avLst/>
              <a:gdLst/>
              <a:ahLst/>
              <a:cxnLst/>
              <a:rect r="r" b="b" t="t" l="l"/>
              <a:pathLst>
                <a:path h="381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9ECE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57250" y="685800"/>
            <a:ext cx="6057781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A8A3A"/>
                </a:solidFill>
                <a:latin typeface="Arimo Bold"/>
                <a:ea typeface="Arimo Bold"/>
                <a:cs typeface="Arimo Bold"/>
                <a:sym typeface="Arimo Bold"/>
              </a:rPr>
              <a:t>Mockup App Movil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71575" y="3421628"/>
            <a:ext cx="7829550" cy="5686425"/>
            <a:chOff x="0" y="0"/>
            <a:chExt cx="10439400" cy="75819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39400" cy="7581900"/>
            </a:xfrm>
            <a:custGeom>
              <a:avLst/>
              <a:gdLst/>
              <a:ahLst/>
              <a:cxnLst/>
              <a:rect r="r" b="b" t="t" l="l"/>
              <a:pathLst>
                <a:path h="7581900" w="10439400">
                  <a:moveTo>
                    <a:pt x="0" y="0"/>
                  </a:moveTo>
                  <a:lnTo>
                    <a:pt x="10439400" y="0"/>
                  </a:lnTo>
                  <a:lnTo>
                    <a:pt x="1043940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102" t="0" r="-8102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2625" y="3393053"/>
            <a:ext cx="7858125" cy="5715000"/>
            <a:chOff x="0" y="0"/>
            <a:chExt cx="10477500" cy="7620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4775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5" r="0" b="-12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86912" y="3407340"/>
            <a:ext cx="7829550" cy="5686425"/>
            <a:chOff x="0" y="0"/>
            <a:chExt cx="10439400" cy="7581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39400" cy="7581900"/>
            </a:xfrm>
            <a:custGeom>
              <a:avLst/>
              <a:gdLst/>
              <a:ahLst/>
              <a:cxnLst/>
              <a:rect r="r" b="b" t="t" l="l"/>
              <a:pathLst>
                <a:path h="7581900" w="10439400">
                  <a:moveTo>
                    <a:pt x="0" y="0"/>
                  </a:moveTo>
                  <a:lnTo>
                    <a:pt x="10439400" y="0"/>
                  </a:lnTo>
                  <a:lnTo>
                    <a:pt x="1043940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102" t="0" r="-810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1757362"/>
            <a:ext cx="16573500" cy="28575"/>
            <a:chOff x="0" y="0"/>
            <a:chExt cx="22098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8000" cy="38100"/>
            </a:xfrm>
            <a:custGeom>
              <a:avLst/>
              <a:gdLst/>
              <a:ahLst/>
              <a:cxnLst/>
              <a:rect r="r" b="b" t="t" l="l"/>
              <a:pathLst>
                <a:path h="381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9ECEF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57250" y="3407340"/>
            <a:ext cx="8398035" cy="5686425"/>
          </a:xfrm>
          <a:custGeom>
            <a:avLst/>
            <a:gdLst/>
            <a:ahLst/>
            <a:cxnLst/>
            <a:rect r="r" b="b" t="t" l="l"/>
            <a:pathLst>
              <a:path h="5686425" w="8398035">
                <a:moveTo>
                  <a:pt x="0" y="0"/>
                </a:moveTo>
                <a:lnTo>
                  <a:pt x="8398035" y="0"/>
                </a:lnTo>
                <a:lnTo>
                  <a:pt x="8398035" y="5686425"/>
                </a:lnTo>
                <a:lnTo>
                  <a:pt x="0" y="5686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69" t="0" r="-416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7250" y="685800"/>
            <a:ext cx="6057781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A8A3A"/>
                </a:solidFill>
                <a:latin typeface="Arimo Bold"/>
                <a:ea typeface="Arimo Bold"/>
                <a:cs typeface="Arimo Bold"/>
                <a:sym typeface="Arimo Bold"/>
              </a:rPr>
              <a:t>Mockup App Movil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DAHTnbsdYNg</dc:identifier>
  <dcterms:modified xsi:type="dcterms:W3CDTF">2011-08-01T06:04:30Z</dcterms:modified>
  <cp:revision>1</cp:revision>
  <dc:title>LifeBetter - Proyecto de Título.pptx</dc:title>
</cp:coreProperties>
</file>